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057400"/>
            <a:ext cx="1105783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RLDX-1 파인튜닝 — FFW-SH5</a:t>
            </a:r>
          </a:p>
          <a:p>
            <a:pPr algn="l">
              <a:spcAft>
                <a:spcPts val="2600"/>
              </a:spcAft>
            </a:pPr>
            <a:r>
              <a:rPr sz="1900" b="0">
                <a:solidFill>
                  <a:srgbClr val="9FC4DA"/>
                </a:solidFill>
                <a:latin typeface="맑은 고딕"/>
              </a:rPr>
              <a:t>rlwrld_demo_0826_merge · 81 에피소드 / 33,018 프레임 / 10 fps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C8DAE8"/>
                </a:solidFill>
                <a:latin typeface="맑은 고딕"/>
              </a:rPr>
              <a:t>데이터 특성에서 출발한 설계 결정과 학습 구성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88A8C0"/>
                </a:solidFill>
                <a:latin typeface="맑은 고딕"/>
              </a:rPr>
              <a:t>2026-08-27 · 4× NVIDIA B200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66928" tIns="14630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맑은 고딕"/>
              </a:rPr>
              <a:t>한 장 요약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B8CEE0"/>
                </a:solidFill>
                <a:latin typeface="맑은 고딕"/>
              </a:rPr>
              <a:t>결정 3개와 현재 상태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389888"/>
          <a:ext cx="11057837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5496"/>
                <a:gridCol w="2664539"/>
                <a:gridCol w="6927802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결정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근거 (데이터/논문)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① action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57 → 26차원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명령이 실제로 들어가는 관절만. 54 중 28개가 상수 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② tactile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쓰지 않음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90차원 중 11개만 살아있고, PT에 physics stream 자체가 없음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③ chunk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16 → 40 (실행 20)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10 fps에서 2.0초 실행. 논문 ALLEX의 20/40 비율과 동일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66928" y="3246120"/>
            <a:ext cx="5577840" cy="141732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9050">
            <a:solidFill>
              <a:srgbClr val="B47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3246120"/>
            <a:ext cx="64008" cy="1417320"/>
          </a:xfrm>
          <a:prstGeom prst="rect">
            <a:avLst/>
          </a:prstGeom>
          <a:solidFill>
            <a:srgbClr val="B47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333756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4760A"/>
                </a:solidFill>
                <a:latin typeface="맑은 고딕"/>
              </a:rPr>
              <a:t>우리 task는 composite다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4단계 + 조건 분기(“송장이 위로 오게”). atomic이 아니다.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RoboCasa365에서 RLDX-1도 atomic 67.3% vs composite 19.0%.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→ 1차는 subtask 없이 전체 문장 하나로 end-to-end.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19088" y="3246120"/>
            <a:ext cx="5184648" cy="141732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19088" y="3246120"/>
            <a:ext cx="64008" cy="14173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6" y="3337560"/>
            <a:ext cx="481888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E7D32"/>
                </a:solidFill>
                <a:latin typeface="맑은 고딕"/>
              </a:rPr>
              <a:t>지금 학습 중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batch 128 · lr 1e-4 cosine · 30K step · 4×B200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GPU당 55 GiB, 예상 6~8시간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held-out 9 에피소드로 체크포인트 선택 예정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892040"/>
            <a:ext cx="11057839" cy="11430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9050">
            <a:solidFill>
              <a:srgbClr val="B4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4892040"/>
            <a:ext cx="64008" cy="1143000"/>
          </a:xfrm>
          <a:prstGeom prst="rect">
            <a:avLst/>
          </a:prstGeom>
          <a:solidFill>
            <a:srgbClr val="B4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4983480"/>
            <a:ext cx="106920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43A2E"/>
                </a:solidFill>
                <a:latin typeface="맑은 고딕"/>
              </a:rPr>
              <a:t>핵심 제약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RLDX-1-PT는 1단계(사전학습) 산출물이라 motion / memory / physics 텐서가 0개다.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그 기능들은 2단계 mid-training(2,560만 샘플)에서 붙는 것 → 우리 3.2만 샘플로 대체 불가. 세 모듈 모두 OFF.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36E"/>
                </a:solidFill>
                <a:latin typeface="맑은 고딕"/>
              </a:rPr>
              <a:t>요약</a:t>
            </a:r>
            <a:r>
              <a:rPr sz="1000" b="0">
                <a:solidFill>
                  <a:srgbClr val="5A636E"/>
                </a:solidFill>
                <a:latin typeface="맑은 고딕"/>
              </a:rPr>
              <a:t>        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66928" tIns="14630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맑은 고딕"/>
              </a:rPr>
              <a:t>데이터 — 무엇을 합쳤나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B8CEE0"/>
                </a:solidFill>
                <a:latin typeface="맑은 고딕"/>
              </a:rPr>
              <a:t>3개 세션 병합 + 전수 감사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389888"/>
          <a:ext cx="6766558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7214"/>
                <a:gridCol w="995082"/>
                <a:gridCol w="1094590"/>
                <a:gridCol w="1194098"/>
                <a:gridCol w="895574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세션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에피소드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프레임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평균 길이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비중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rlwrld_demo_0826_1539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21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6,710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320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20.3%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rlwrld_demo_0826_1652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30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11,408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380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34.6%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rlwrld_demo_0826_1748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30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14,900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497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45.1%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81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33,018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378 (중앙값)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55분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53528" y="1344168"/>
            <a:ext cx="4526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2E7D32"/>
                </a:solidFill>
                <a:latin typeface="맑은 고딕"/>
              </a:rPr>
              <a:t>전수 감사 결과 — 0건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1F7A7A"/>
                </a:solidFill>
                <a:latin typeface="맑은 고딕"/>
              </a:rPr>
              <a:t>• </a:t>
            </a:r>
            <a:r>
              <a:rPr sz="1300" b="0">
                <a:solidFill>
                  <a:srgbClr val="20262E"/>
                </a:solidFill>
                <a:latin typeface="맑은 고딕"/>
              </a:rPr>
              <a:t>dead episode · NaN/Inf · 영상 desync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1F7A7A"/>
                </a:solidFill>
                <a:latin typeface="맑은 고딕"/>
              </a:rPr>
              <a:t>• </a:t>
            </a:r>
            <a:r>
              <a:rPr sz="1300" b="0">
                <a:solidFill>
                  <a:srgbClr val="20262E"/>
                </a:solidFill>
                <a:latin typeface="맑은 고딕"/>
              </a:rPr>
              <a:t>인덱스 오류 · 중복 에피소드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1F7A7A"/>
                </a:solidFill>
                <a:latin typeface="맑은 고딕"/>
              </a:rPr>
              <a:t>• </a:t>
            </a:r>
            <a:r>
              <a:rPr sz="1300" b="0">
                <a:solidFill>
                  <a:srgbClr val="20262E"/>
                </a:solidFill>
                <a:latin typeface="맑은 고딕"/>
              </a:rPr>
              <a:t>task 문자열 플레이스홀더 (0812의 “1611” 문제 없음)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246120"/>
            <a:ext cx="5577840" cy="13716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9050">
            <a:solidFill>
              <a:srgbClr val="1F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246120"/>
            <a:ext cx="64008" cy="1371600"/>
          </a:xfrm>
          <a:prstGeom prst="rect">
            <a:avLst/>
          </a:prstGeom>
          <a:solidFill>
            <a:srgbClr val="1F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333756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7A7A"/>
                </a:solidFill>
                <a:latin typeface="맑은 고딕"/>
              </a:rPr>
              <a:t>병합에서 실제로 잡은 문제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pandas가 fixed_size_list&lt;float&gt;[57] → list&lt;float&gt;로 강등하고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huggingface 스키마 메타데이터를 삭제 → Arrow 레벨로 재작성해 해결.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결과: payload 비트 동일, mp4 바이트 동일, 스키마 보존.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19088" y="3246120"/>
            <a:ext cx="5184648" cy="13716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9050">
            <a:solidFill>
              <a:srgbClr val="B47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19088" y="3246120"/>
            <a:ext cx="64008" cy="1371600"/>
          </a:xfrm>
          <a:prstGeom prst="rect">
            <a:avLst/>
          </a:prstGeom>
          <a:solidFill>
            <a:srgbClr val="B47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0256" y="3337560"/>
            <a:ext cx="481888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4760A"/>
                </a:solidFill>
                <a:latin typeface="맑은 고딕"/>
              </a:rPr>
              <a:t>알고 있어야 할 편향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세션이 갈수록 시연이 길어진다 (320 → 380 → 497 프레임).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1748 세션이 학습 분포의 45%를 차지.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→ 평가는 반드시 세 세션에 걸쳐서.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846320"/>
            <a:ext cx="11057839" cy="100584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905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4846320"/>
            <a:ext cx="64008" cy="10058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4937760"/>
            <a:ext cx="10692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3A5C"/>
                </a:solidFill>
                <a:latin typeface="맑은 고딕"/>
              </a:rPr>
              <a:t>학습/검증 분할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train 72 ep / 29,661 frames   ·   held-out 9 ep / 3,357 frames (10.2%, 세 세션에서 3개씩)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트레이너에 validation 경로가 없다 (eval_dataset은 항상 None) → held-out + open_loop_eval로 직접 봐야 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36E"/>
                </a:solidFill>
                <a:latin typeface="맑은 고딕"/>
              </a:rPr>
              <a:t>데이터</a:t>
            </a:r>
            <a:r>
              <a:rPr sz="1000" b="0">
                <a:solidFill>
                  <a:srgbClr val="5A636E"/>
                </a:solidFill>
                <a:latin typeface="맑은 고딕"/>
              </a:rPr>
              <a:t>        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66928" tIns="14630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맑은 고딕"/>
              </a:rPr>
              <a:t>결정 ① — action을 57에서 26차원으로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B8CEE0"/>
                </a:solidFill>
                <a:latin typeface="맑은 고딕"/>
              </a:rPr>
              <a:t>데이터가 말해준 실제 제어 공간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389888"/>
          <a:ext cx="6857999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3029"/>
                <a:gridCol w="1512794"/>
                <a:gridCol w="1512794"/>
                <a:gridCol w="1109382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관절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state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action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판정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arm_l / arm_r  joint1–7 (14)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움직임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움직임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E7D32"/>
                          </a:solidFill>
                          <a:latin typeface="맑은 고딕"/>
                        </a:rPr>
                        <a:t>제어함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finger_*_joint1–13 (26)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움직임 ±0.02~0.3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0.000 고정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B43A2E"/>
                          </a:solidFill>
                          <a:latin typeface="맑은 고딕"/>
                        </a:rPr>
                        <a:t>명령 없음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finger_*_joint14,15,16 (6)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움직임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움직임 0~1.29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E7D32"/>
                          </a:solidFill>
                          <a:latin typeface="맑은 고딕"/>
                        </a:rPr>
                        <a:t>제어함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finger_*_joint17 (2)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움직임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0.000 고정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B43A2E"/>
                          </a:solidFill>
                          <a:latin typeface="맑은 고딕"/>
                        </a:rPr>
                        <a:t>명령 없음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finger_*_joint18,19,20 (6)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움직임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움직임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E7D32"/>
                          </a:solidFill>
                          <a:latin typeface="맑은 고딕"/>
                        </a:rPr>
                        <a:t>제어함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744968" y="1344168"/>
            <a:ext cx="4434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1B3A5C"/>
                </a:solidFill>
                <a:latin typeface="맑은 고딕"/>
              </a:rPr>
              <a:t>33,018 프레임 전수 측정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1F7A7A"/>
                </a:solidFill>
                <a:latin typeface="맑은 고딕"/>
              </a:rPr>
              <a:t>• </a:t>
            </a:r>
            <a:r>
              <a:rPr sz="1350" b="1">
                <a:solidFill>
                  <a:srgbClr val="20262E"/>
                </a:solidFill>
                <a:latin typeface="맑은 고딕"/>
              </a:rPr>
              <a:t>action 54차원 중 28개가 상수 0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1F7A7A"/>
                </a:solidFill>
                <a:latin typeface="맑은 고딕"/>
              </a:rPr>
              <a:t>• </a:t>
            </a:r>
            <a:r>
              <a:rPr sz="1350" b="0">
                <a:solidFill>
                  <a:srgbClr val="20262E"/>
                </a:solidFill>
                <a:latin typeface="맑은 고딕"/>
              </a:rPr>
              <a:t>실질 제어 = 팔 14 + 손 12 = 26차원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1F7A7A"/>
                </a:solidFill>
                <a:latin typeface="맑은 고딕"/>
              </a:rPr>
              <a:t>• </a:t>
            </a:r>
            <a:r>
              <a:rPr sz="1350" b="0">
                <a:solidFill>
                  <a:srgbClr val="20262E"/>
                </a:solidFill>
                <a:latin typeface="맑은 고딕"/>
              </a:rPr>
              <a:t>손은 사실상 2지 그리퍼로 운용 중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1F7A7A"/>
                </a:solidFill>
                <a:latin typeface="맑은 고딕"/>
              </a:rPr>
              <a:t>• </a:t>
            </a:r>
            <a:r>
              <a:rPr sz="1350" b="0">
                <a:solidFill>
                  <a:srgbClr val="20262E"/>
                </a:solidFill>
                <a:latin typeface="맑은 고딕"/>
              </a:rPr>
              <a:t>head/lift(54:57)도 명령 없음 → 이미 제외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03320"/>
            <a:ext cx="5577840" cy="123444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9050">
            <a:solidFill>
              <a:srgbClr val="5A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703320"/>
            <a:ext cx="64008" cy="1234440"/>
          </a:xfrm>
          <a:prstGeom prst="rect">
            <a:avLst/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379476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A636E"/>
                </a:solidFill>
                <a:latin typeface="맑은 고딕"/>
              </a:rPr>
              <a:t>54로 둬도 “틀리지는” 않는다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q99 정규화가 상수 차원을 0으로 보내고, flow-matching 타깃 −ε는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노이즈 입력에서 정확히 복원 가능 → 학습은 된다.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다만 디코더 폭과 그래디언트를 신호 없는 28차원에 쓴다.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19088" y="3703320"/>
            <a:ext cx="5184648" cy="123444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19088" y="3703320"/>
            <a:ext cx="64008" cy="1234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0256" y="3794760"/>
            <a:ext cx="481888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E7D32"/>
                </a:solidFill>
                <a:latin typeface="맑은 고딕"/>
              </a:rPr>
              <a:t>검증 완료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62E"/>
                </a:solidFill>
                <a:latin typeface="맑은 고딕"/>
              </a:rPr>
              <a:t>action 26차원, dead dim 0개 (모든 그룹 q99−q01 &gt; 0.07)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62E"/>
                </a:solidFill>
                <a:latin typeface="맑은 고딕"/>
              </a:rPr>
              <a:t>state는 54 유지 — 관측은 공짜, 접촉 정보를 담을 수 있음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62E"/>
                </a:solidFill>
                <a:latin typeface="맑은 고딕"/>
              </a:rPr>
              <a:t>stats.json 재생성 불필요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120640"/>
            <a:ext cx="11057839" cy="86868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9050">
            <a:solidFill>
              <a:srgbClr val="B47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120640"/>
            <a:ext cx="64008" cy="868680"/>
          </a:xfrm>
          <a:prstGeom prst="rect">
            <a:avLst/>
          </a:prstGeom>
          <a:solidFill>
            <a:srgbClr val="B47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212080"/>
            <a:ext cx="10692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4760A"/>
                </a:solidFill>
                <a:latin typeface="맑은 고딕"/>
              </a:rPr>
              <a:t>⚠ 배포 시 바뀌는 것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서버 출력 키가 action.left_hand(20) → action.left_hand_j14_16 / _j18_20 (3+3)로 바뀐다.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클라이언트가 26 → 57 매핑을 새 그룹 순서로 다시 조립해야 한다. 아직 실기로 확인 안 됨.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36E"/>
                </a:solidFill>
                <a:latin typeface="맑은 고딕"/>
              </a:rPr>
              <a:t>결정 ①</a:t>
            </a:r>
            <a:r>
              <a:rPr sz="1000" b="0">
                <a:solidFill>
                  <a:srgbClr val="5A636E"/>
                </a:solidFill>
                <a:latin typeface="맑은 고딕"/>
              </a:rPr>
              <a:t>         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66928" tIns="14630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맑은 고딕"/>
              </a:rPr>
              <a:t>결정 ② — fingertip(tactile)을 쓰지 않는 이유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B8CEE0"/>
                </a:solidFill>
                <a:latin typeface="맑은 고딕"/>
              </a:rPr>
              <a:t>세 겹으로 막혀 있다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389888"/>
          <a:ext cx="11057837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2229"/>
                <a:gridCol w="6358257"/>
                <a:gridCol w="3317351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층위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무엇이 문제인가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수치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RLDX-1-PT에 physics stream이 존재하지 않음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physics 텐서 0개 (MT는 21개)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데이터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90차원 중 대부분이 정규화하면 정보량 0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q01=q99인 차원 79/90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하드웨어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양손 5개 센서 중 3개가 전 구간 무응답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0이 아닌 (프레임×차원) 비율 0.69%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코드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all-zero 샘플은 physics를 통째로 스킵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프레임의 61.6%가 전 차원 0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3429000"/>
            <a:ext cx="5623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1B3A5C"/>
                </a:solidFill>
                <a:latin typeface="맑은 고딕"/>
              </a:rPr>
              <a:t>살아있는 센서 = 손가락 4·5번뿐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1F7A7A"/>
                </a:solidFill>
                <a:latin typeface="맑은 고딕"/>
              </a:rPr>
              <a:t>• </a:t>
            </a:r>
            <a:r>
              <a:rPr sz="1300" b="0">
                <a:solidFill>
                  <a:srgbClr val="20262E"/>
                </a:solidFill>
                <a:latin typeface="맑은 고딕"/>
              </a:rPr>
              <a:t>왼손 센서 1·2·3 (dim 0–26): 전 구간 0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1F7A7A"/>
                </a:solidFill>
                <a:latin typeface="맑은 고딕"/>
              </a:rPr>
              <a:t>• </a:t>
            </a:r>
            <a:r>
              <a:rPr sz="1300" b="0">
                <a:solidFill>
                  <a:srgbClr val="20262E"/>
                </a:solidFill>
                <a:latin typeface="맑은 고딕"/>
              </a:rPr>
              <a:t>오른손 센서 1·2·3 (dim 45–71): 전 구간 0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1F7A7A"/>
                </a:solidFill>
                <a:latin typeface="맑은 고딕"/>
              </a:rPr>
              <a:t>• </a:t>
            </a:r>
            <a:r>
              <a:rPr sz="1300" b="0">
                <a:solidFill>
                  <a:srgbClr val="20262E"/>
                </a:solidFill>
                <a:latin typeface="맑은 고딕"/>
              </a:rPr>
              <a:t>활성: 왼손 27–44, 오른손 72–89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64808" y="3429000"/>
            <a:ext cx="5138928" cy="173736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9050">
            <a:solidFill>
              <a:srgbClr val="1F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64808" y="3429000"/>
            <a:ext cx="64008" cy="1737360"/>
          </a:xfrm>
          <a:prstGeom prst="rect">
            <a:avLst/>
          </a:prstGeom>
          <a:solidFill>
            <a:srgbClr val="1F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5976" y="3520440"/>
            <a:ext cx="477316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7A7A"/>
                </a:solidFill>
                <a:latin typeface="맑은 고딕"/>
              </a:rPr>
              <a:t>결정 ①과 정확히 맞아떨어진다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명령이 들어가는 손가락도 4·5번,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tactile이 반응하는 센서도 4·5번.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→ 이 데이터에서 손은 2지로 운용되고 있고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   1~3번은 제어도 센싱도 되지 않는다.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57839" cy="9144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9050">
            <a:solidFill>
              <a:srgbClr val="B47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349240"/>
            <a:ext cx="64008" cy="914400"/>
          </a:xfrm>
          <a:prstGeom prst="rect">
            <a:avLst/>
          </a:prstGeom>
          <a:solidFill>
            <a:srgbClr val="B47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5440680"/>
            <a:ext cx="10692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4760A"/>
                </a:solidFill>
                <a:latin typeface="맑은 고딕"/>
              </a:rPr>
              <a:t>그래도 tactile이 필요한 순간은 따로 있다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논문에서 tactile이 효과를 본 건 Plug Insertion(20.8→33.3), Egg PnP(45.8→61.1) — 시각으로 접촉을 알 수 없는 정밀 작업.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상자 운반은 그 범주가 아니다. 다만 “센서 1~3번이 왜 무응답인가”는 지금 확인해 둬야 다음 수집이 쓸모 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36E"/>
                </a:solidFill>
                <a:latin typeface="맑은 고딕"/>
              </a:rPr>
              <a:t>결정 ②</a:t>
            </a:r>
            <a:r>
              <a:rPr sz="1000" b="0">
                <a:solidFill>
                  <a:srgbClr val="5A636E"/>
                </a:solidFill>
                <a:latin typeface="맑은 고딕"/>
              </a:rPr>
              <a:t>         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66928" tIns="14630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맑은 고딕"/>
              </a:rPr>
              <a:t>RLDX-1의 3단계 학습과 우리 위치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B8CEE0"/>
                </a:solidFill>
                <a:latin typeface="맑은 고딕"/>
              </a:rPr>
              <a:t>왜 기능 모듈을 못 쓰는가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389888"/>
          <a:ext cx="11057836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0914"/>
                <a:gridCol w="1646912"/>
                <a:gridCol w="1764548"/>
                <a:gridCol w="3529097"/>
                <a:gridCol w="1176365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steps × batch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하드웨어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무엇을 하는가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우리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Pre-training → RLDX-1-PT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100K × 8192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64×H200 195h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1.5M 에피소드 action prior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E7D32"/>
                          </a:solidFill>
                          <a:latin typeface="맑은 고딕"/>
                        </a:rPr>
                        <a:t>출발점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Mid-training → RLDX-1-MT-*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25K × 1024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64×H200 15h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motion / memory / physics 주입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B43A2E"/>
                          </a:solidFill>
                          <a:latin typeface="맑은 고딕"/>
                        </a:rPr>
                        <a:t>건너뜀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Post-training → RLDX-1-FT-*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30K × 64~128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task별 적응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E7D32"/>
                          </a:solidFill>
                          <a:latin typeface="맑은 고딕"/>
                        </a:rPr>
                        <a:t>우리가 함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3337560"/>
          <a:ext cx="576072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960120"/>
                <a:gridCol w="1248156"/>
                <a:gridCol w="1248156"/>
              </a:tblGrid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체크포인트 텐서 조사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PT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MT-ALLEX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MT-DROID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motion(STSS)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B43A2E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28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28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memory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B43A2E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19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19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physics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B43A2E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21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21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double / single blocks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80 / 64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120 / 128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120 / 128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601968" y="3337560"/>
            <a:ext cx="5001768" cy="20574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9050">
            <a:solidFill>
              <a:srgbClr val="B4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01968" y="3337560"/>
            <a:ext cx="64008" cy="2057400"/>
          </a:xfrm>
          <a:prstGeom prst="rect">
            <a:avLst/>
          </a:prstGeom>
          <a:solidFill>
            <a:srgbClr val="B4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03136" y="3429000"/>
            <a:ext cx="4636008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43A2E"/>
                </a:solidFill>
                <a:latin typeface="맑은 고딕"/>
              </a:rPr>
              <a:t>그래서 세 모듈 모두 OFF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62E"/>
                </a:solidFill>
                <a:latin typeface="맑은 고딕"/>
              </a:rPr>
              <a:t>PT 위에서 --use-physics를 켜면 MSAT의 P-stream QKV까지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62E"/>
                </a:solidFill>
                <a:latin typeface="맑은 고딕"/>
              </a:rPr>
              <a:t>전부 무작위 초기화된다.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62E"/>
                </a:solidFill>
                <a:latin typeface="맑은 고딕"/>
              </a:rPr>
              <a:t>논문은 같은 일을 2,560만 샘플로 했고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62E"/>
                </a:solidFill>
                <a:latin typeface="맑은 고딕"/>
              </a:rPr>
              <a:t>우리에겐 3.2만 샘플뿐 — 800배 차이.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62E"/>
                </a:solidFill>
                <a:latin typeface="맑은 고딕"/>
              </a:rPr>
              <a:t>MT를 base로 쓰는 것도 답이 아니다. mid-training의 목적이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62E"/>
                </a:solidFill>
                <a:latin typeface="맑은 고딕"/>
              </a:rPr>
              <a:t>“embodiment specialization”이라 ALLEX/FR3에 특화돼 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257800"/>
            <a:ext cx="5760720" cy="100584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9050">
            <a:solidFill>
              <a:srgbClr val="1F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257800"/>
            <a:ext cx="64008" cy="1005840"/>
          </a:xfrm>
          <a:prstGeom prst="rect">
            <a:avLst/>
          </a:prstGeom>
          <a:solidFill>
            <a:srgbClr val="1F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534924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7A7A"/>
                </a:solidFill>
                <a:latin typeface="맑은 고딕"/>
              </a:rPr>
              <a:t>PT 모델 카드가 직접 말한다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“Use it as your starting point for new embodiments and tasks.”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우리는 새 임바디먼트다 → RLDX-1-PT가 맞다.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36E"/>
                </a:solidFill>
                <a:latin typeface="맑은 고딕"/>
              </a:rPr>
              <a:t>모델</a:t>
            </a:r>
            <a:r>
              <a:rPr sz="1000" b="0">
                <a:solidFill>
                  <a:srgbClr val="5A636E"/>
                </a:solidFill>
                <a:latin typeface="맑은 고딕"/>
              </a:rPr>
              <a:t>         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66928" tIns="14630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맑은 고딕"/>
              </a:rPr>
              <a:t>하이퍼파라미터 — 논문 실로봇 레시피를 따른다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B8CEE0"/>
                </a:solidFill>
                <a:latin typeface="맑은 고딕"/>
              </a:rPr>
              <a:t>§G.2~G.5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389888"/>
          <a:ext cx="1105783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027"/>
                <a:gridCol w="2088702"/>
                <a:gridCol w="982919"/>
                <a:gridCol w="982919"/>
                <a:gridCol w="1720108"/>
                <a:gridCol w="1597243"/>
                <a:gridCol w="982919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플랫폼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데모 수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steps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batch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lr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state dropout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chunk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OpenArm 휴머노이드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348 (4 task)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30K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64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1e-4 cosine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0.3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16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ALLEX (task별)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40 / 90 / 72 / 62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30K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128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1e-4 cosine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0.8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FR3 (task별)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50~100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30K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64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1e-4 cosine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0.3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16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우리 (FFW-SH5)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81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30K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128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1e-4 cosine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0.3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66928" y="3429000"/>
            <a:ext cx="5577840" cy="16002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9050">
            <a:solidFill>
              <a:srgbClr val="1F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3429000"/>
            <a:ext cx="64008" cy="1600200"/>
          </a:xfrm>
          <a:prstGeom prst="rect">
            <a:avLst/>
          </a:prstGeom>
          <a:solidFill>
            <a:srgbClr val="1F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3520440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7A7A"/>
                </a:solidFill>
                <a:latin typeface="맑은 고딕"/>
              </a:rPr>
              <a:t>우리 81개는 논문 범위 안에 있다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실로봇 task당 데모 40~100개가 논문의 일관된 규모.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프레임 수도 ALLEX Object-in-Box(90 ep ≈ 3.1만)와 비슷한 3.3만.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임바디먼트가 가장 가까운 OpenArm이 chunk 16, ALLEX가 40.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19088" y="3429000"/>
            <a:ext cx="5184648" cy="16002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905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19088" y="3429000"/>
            <a:ext cx="64008" cy="16002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6" y="3520440"/>
            <a:ext cx="481888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3A5C"/>
                </a:solidFill>
                <a:latin typeface="맑은 고딕"/>
              </a:rPr>
              <a:t>backbone을 얼리면 안 된다 (Table 6)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Full FT(top-4) + Full FT  →  62.67%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Frozen + LoRA r=64        →  36.42%   (−26점)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→ --tune-top-llm-layers 4 유지.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   LoRA는 VRAM 절감 카드인데 B200에는 필요 없다.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212080"/>
            <a:ext cx="11057839" cy="100584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212080"/>
            <a:ext cx="64008" cy="10058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5303520"/>
            <a:ext cx="10692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E7D32"/>
                </a:solidFill>
                <a:latin typeface="맑은 고딕"/>
              </a:rPr>
              <a:t>우리 스모크에서 나온 확인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학습 파라미터 2,375,979,600 = 2,376.0M — 논문 Table 6의 “Full FT(top-4) + Full FT action model = 2,376.0M”과 정확히 일치.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동결 설정이 논문의 full-fine-tuning 구성과 같다는 독립적 검증.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36E"/>
                </a:solidFill>
                <a:latin typeface="맑은 고딕"/>
              </a:rPr>
              <a:t>하이퍼파라미터 (1/2)</a:t>
            </a:r>
            <a:r>
              <a:rPr sz="1000" b="0">
                <a:solidFill>
                  <a:srgbClr val="5A636E"/>
                </a:solidFill>
                <a:latin typeface="맑은 고딕"/>
              </a:rPr>
              <a:t>        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66928" tIns="14630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맑은 고딕"/>
              </a:rPr>
              <a:t>하이퍼파라미터 — 4×B200 실측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B8CEE0"/>
                </a:solidFill>
                <a:latin typeface="맑은 고딕"/>
              </a:rPr>
              <a:t>추측이 아니라 재본 값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389888"/>
          <a:ext cx="1105783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189"/>
                <a:gridCol w="1863680"/>
                <a:gridCol w="1490944"/>
                <a:gridCol w="2981889"/>
                <a:gridCol w="1863680"/>
                <a:gridCol w="1242453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global batch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image_max_area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vision token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처리량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peak VRAM/GPU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30K step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64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65536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3.15 it/s (202 sample/s)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37.4 GiB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2.6 h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128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65536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2.06 it/s (264 sample/s)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47.4 GiB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4.0 h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128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98304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84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1.60 it/s (205 sample/s)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54.3 GiB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5.2 h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256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65536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1.33 it/s (340 sample/s)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66.9 GiB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6.3 h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66928" y="3246120"/>
            <a:ext cx="5577840" cy="146304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9050">
            <a:solidFill>
              <a:srgbClr val="1F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3246120"/>
            <a:ext cx="64008" cy="1463040"/>
          </a:xfrm>
          <a:prstGeom prst="rect">
            <a:avLst/>
          </a:prstGeom>
          <a:solidFill>
            <a:srgbClr val="1F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333756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7A7A"/>
                </a:solidFill>
                <a:latin typeface="맑은 고딕"/>
              </a:rPr>
              <a:t>VRAM은 병목이 아니다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가장 무거운 구성이 67 GiB / 183 GB. batch 512도 물리적으론 들어간다.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논문 Table 6의 H200 기준(batch 32에 87 GiB)보다 가벼운 이유는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우리 카메라가 1대이기 때문 (논문 ablation은 3 view × 12프레임).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→ LoRA를 쓸 이유가 없다.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19088" y="3246120"/>
            <a:ext cx="5184648" cy="146304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905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19088" y="3246120"/>
            <a:ext cx="64008" cy="14630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6" y="3337560"/>
            <a:ext cx="481888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3A5C"/>
                </a:solidFill>
                <a:latin typeface="맑은 고딕"/>
              </a:rPr>
              <a:t>배치가 클수록 오히려 빠르다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샘플 처리량 202 → 264 → 340 sample/s.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작은 배치는 B200을 못 채운다.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batch 256을 안 고른 이유는 속도·메모리가 아니라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30K에서 269 epoch가 되어 과적합이 우려되기 때문.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892040"/>
            <a:ext cx="11057839" cy="11430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9050">
            <a:solidFill>
              <a:srgbClr val="B47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4892040"/>
            <a:ext cx="64008" cy="1143000"/>
          </a:xfrm>
          <a:prstGeom prst="rect">
            <a:avLst/>
          </a:prstGeom>
          <a:solidFill>
            <a:srgbClr val="B47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4983480"/>
            <a:ext cx="106920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4760A"/>
                </a:solidFill>
                <a:latin typeface="맑은 고딕"/>
              </a:rPr>
              <a:t>⚠ 처리량은 실행마다 ±25% 흔들린다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같은 구성을 네 번 재보니 1.07 ~ 1.60 it/s. /NHNHOME이 공유 Lustre라 mp4 디코딩이 캐시·타 사용자 부하를 탄다.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→ 계획용 수치는 “30K에 5~8시간”. 5.2h는 가장 좋았을 때 값이지 기대값이 아니다.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36E"/>
                </a:solidFill>
                <a:latin typeface="맑은 고딕"/>
              </a:rPr>
              <a:t>하이퍼파라미터 (2/2)</a:t>
            </a:r>
            <a:r>
              <a:rPr sz="1000" b="0">
                <a:solidFill>
                  <a:srgbClr val="5A636E"/>
                </a:solidFill>
                <a:latin typeface="맑은 고딕"/>
              </a:rPr>
              <a:t>         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66928" tIns="14630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맑은 고딕"/>
              </a:rPr>
              <a:t>이미지 전처리 — 기본값이 우리 종횡비에서 최악이었다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B8CEE0"/>
                </a:solidFill>
                <a:latin typeface="맑은 고딕"/>
              </a:rPr>
              <a:t>cam_head 376×672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389888"/>
          <a:ext cx="6583676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747"/>
                <a:gridCol w="1082248"/>
                <a:gridCol w="1082248"/>
                <a:gridCol w="1533185"/>
                <a:gridCol w="1082248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--image-max-area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resize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crop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vision token/frame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가로 손실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B43A2E"/>
                          </a:solidFill>
                          <a:latin typeface="맑은 고딕"/>
                        </a:rPr>
                        <a:t>65536 (기본값)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160×285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160×256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B43A2E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B43A2E"/>
                          </a:solidFill>
                          <a:latin typeface="맑은 고딕"/>
                        </a:rPr>
                        <a:t>10.2%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67584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192×343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192×320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60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6.7%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E7D32"/>
                          </a:solidFill>
                          <a:latin typeface="맑은 고딕"/>
                        </a:rPr>
                        <a:t>98304 (채택)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224×400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224×384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E7D32"/>
                          </a:solidFill>
                          <a:latin typeface="맑은 고딕"/>
                        </a:rPr>
                        <a:t>84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E7D32"/>
                          </a:solidFill>
                          <a:latin typeface="맑은 고딕"/>
                        </a:rPr>
                        <a:t>4.0%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131072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256×457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256×448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112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2.0%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70648" y="1344168"/>
            <a:ext cx="4709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1B3A5C"/>
                </a:solidFill>
                <a:latin typeface="맑은 고딕"/>
              </a:rPr>
              <a:t>왜 크롭이 생기나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1F7A7A"/>
                </a:solidFill>
                <a:latin typeface="맑은 고딕"/>
              </a:rPr>
              <a:t>• </a:t>
            </a:r>
            <a:r>
              <a:rPr sz="1300" b="0">
                <a:solidFill>
                  <a:srgbClr val="20262E"/>
                </a:solidFill>
                <a:latin typeface="맑은 고딕"/>
              </a:rPr>
              <a:t>논문 §B.1은 Qwen3-VL smart_resize를 쓴다고 하지만,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1F7A7A"/>
                </a:solidFill>
                <a:latin typeface="맑은 고딕"/>
              </a:rPr>
              <a:t>• </a:t>
            </a:r>
            <a:r>
              <a:rPr sz="1300" b="1">
                <a:solidFill>
                  <a:srgbClr val="20262E"/>
                </a:solidFill>
                <a:latin typeface="맑은 고딕"/>
              </a:rPr>
              <a:t>레포 구현은 짧은 변을 맞춘 뒤 긴 변을 잘라낸다.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1F7A7A"/>
                </a:solidFill>
                <a:latin typeface="맑은 고딕"/>
              </a:rPr>
              <a:t>• </a:t>
            </a:r>
            <a:r>
              <a:rPr sz="1300" b="0">
                <a:solidFill>
                  <a:srgbClr val="20262E"/>
                </a:solidFill>
                <a:latin typeface="맑은 고딕"/>
              </a:rPr>
              <a:t>정사각형 입력에선 무해하지만 가로로 긴 우리 카메라에선 실제로 잘린다.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566160"/>
            <a:ext cx="11057839" cy="13716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9050">
            <a:solidFill>
              <a:srgbClr val="1F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566160"/>
            <a:ext cx="64008" cy="1371600"/>
          </a:xfrm>
          <a:prstGeom prst="rect">
            <a:avLst/>
          </a:prstGeom>
          <a:solidFill>
            <a:srgbClr val="1F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3657600"/>
            <a:ext cx="10692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7A7A"/>
                </a:solidFill>
                <a:latin typeface="맑은 고딕"/>
              </a:rPr>
              <a:t>화질보다 중요한 이유 — 분기 판단이 이 화면에 달려 있다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이 작업의 분기(“송장이 위로 오게 방향 맞추기”)를 결정하는 건 상자 위의 흰 송장 라벨이다.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224×384에서도 라벨이 뚜렷한 밝은 사각형으로 남는 것을 프레임 추출로 직접 확인했다 — 글자는 못 읽지만 읽을 필요가 없다.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65536에서는 라벨 덩어리가 뭉개지기 시작하고 가로 화각도 더 잘린다.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074920"/>
            <a:ext cx="11057839" cy="9144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9050">
            <a:solidFill>
              <a:srgbClr val="5A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074920"/>
            <a:ext cx="64008" cy="914400"/>
          </a:xfrm>
          <a:prstGeom prst="rect">
            <a:avLst/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5166360"/>
            <a:ext cx="10692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A636E"/>
                </a:solidFill>
                <a:latin typeface="맑은 고딕"/>
              </a:rPr>
              <a:t>비용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처리량 −22%, VRAM +7 GiB (2.06 → 1.60 it/s, 47.4 → 54.3 GiB). 30K 기준 4.0h → 5.2h.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B200 VRAM은 여전히 30%도 안 쓴다 → 살 만한 값.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36E"/>
                </a:solidFill>
                <a:latin typeface="맑은 고딕"/>
              </a:rPr>
              <a:t>전처리</a:t>
            </a:r>
            <a:r>
              <a:rPr sz="1000" b="0">
                <a:solidFill>
                  <a:srgbClr val="5A636E"/>
                </a:solidFill>
                <a:latin typeface="맑은 고딕"/>
              </a:rPr>
              <a:t>         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66928" tIns="14630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맑은 고딕"/>
              </a:rPr>
              <a:t>chunk와 execution horizon — 10 fps에서의 의미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B8CEE0"/>
                </a:solidFill>
                <a:latin typeface="맑은 고딕"/>
              </a:rPr>
              <a:t>결정 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389888"/>
            <a:ext cx="11057839" cy="86868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905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64008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481328"/>
            <a:ext cx="10692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3A5C"/>
                </a:solidFill>
                <a:latin typeface="맑은 고딕"/>
              </a:rPr>
              <a:t>먼저: 코드는 fps에 무관하다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self.fps는 info.json에서 읽히지만 데이터 파이프라인 어디서도 쓰이지 않는다. delta_indices·video_stride는 전부 프레임 단위.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→ fps는 학습 동작을 바꾸지 않고, 설정값의 “초 단위 의미”만 정한다. 논문은 자체 실로봇 fps를 밝히지 않는다.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514600"/>
          <a:ext cx="5486399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19"/>
                <a:gridCol w="914400"/>
                <a:gridCol w="201168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설정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프레임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10 fps 기준 초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video context {−6,−4,−2,0}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0.6 s 시각 이력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action chunk (채택)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4.0 s 예측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실행 (execution horizon)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2.0 s 실행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에피소드 길이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215~916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21.5 ~ 91.6 s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73368" y="2514600"/>
          <a:ext cx="52120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914400"/>
                <a:gridCol w="914400"/>
                <a:gridCol w="91440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논문의 실행 비율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chunk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실행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비율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SIMPLER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16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1/8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LIBERO · GR-1 Tabletop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16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1/2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RoboCasa Kitchen · 365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16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16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1/1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ALLEX (실로봇)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1/2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4434840"/>
            <a:ext cx="5486400" cy="16002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9050">
            <a:solidFill>
              <a:srgbClr val="1F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4434840"/>
            <a:ext cx="64008" cy="1600200"/>
          </a:xfrm>
          <a:prstGeom prst="rect">
            <a:avLst/>
          </a:prstGeom>
          <a:solidFill>
            <a:srgbClr val="1F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452628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7A7A"/>
                </a:solidFill>
                <a:latin typeface="맑은 고딕"/>
              </a:rPr>
              <a:t>왜 50이 아니라 40인가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62E"/>
                </a:solidFill>
                <a:latin typeface="맑은 고딕"/>
              </a:rPr>
              <a:t>목표(2.0초 실행)는 chunk가 아니라 실행 개수가 정한다 → 40도 동일.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62E"/>
                </a:solidFill>
                <a:latin typeface="맑은 고딕"/>
              </a:rPr>
              <a:t>40은 논문이 실제로 학습시켜 본 길이(ALLEX)이고,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62E"/>
                </a:solidFill>
                <a:latin typeface="맑은 고딕"/>
              </a:rPr>
              <a:t>비율도 20/40 = 0.50으로 일치한다.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62E"/>
                </a:solidFill>
                <a:latin typeface="맑은 고딕"/>
              </a:rPr>
              <a:t>50도 실측상 돈다(VRAM +1.6 GiB). 다만 근거가 없고 샘플이 8.6% 준다.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73368" y="4434840"/>
            <a:ext cx="5212080" cy="16002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73368" y="4434840"/>
            <a:ext cx="64008" cy="1600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4526280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E7D32"/>
                </a:solidFill>
                <a:latin typeface="맑은 고딕"/>
              </a:rPr>
              <a:t>실행 개수는 학습과 무관하다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62E"/>
                </a:solidFill>
                <a:latin typeface="맑은 고딕"/>
              </a:rPr>
              <a:t>학습은 늘 전체 chunk를 예측하도록 한다.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62E"/>
                </a:solidFill>
                <a:latin typeface="맑은 고딕"/>
              </a:rPr>
              <a:t>몇 개 실행할지는 배포 시 클라이언트 결정이고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62E"/>
                </a:solidFill>
                <a:latin typeface="맑은 고딕"/>
              </a:rPr>
              <a:t>체크포인트에 기록되지 않는다.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62E"/>
                </a:solidFill>
                <a:latin typeface="맑은 고딕"/>
              </a:rPr>
              <a:t>→ 같은 체크포인트로 20/10을 바꿔 시험 가능. 재학습 불필요.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62E"/>
                </a:solidFill>
                <a:latin typeface="맑은 고딕"/>
              </a:rPr>
              <a:t>(예외: memory_stride, rtc_training_max_delay — 둘 다 미사용)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36E"/>
                </a:solidFill>
                <a:latin typeface="맑은 고딕"/>
              </a:rPr>
              <a:t>결정 ③</a:t>
            </a:r>
            <a:r>
              <a:rPr sz="1000" b="0">
                <a:solidFill>
                  <a:srgbClr val="5A636E"/>
                </a:solidFill>
                <a:latin typeface="맑은 고딕"/>
              </a:rPr>
              <a:t>         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66928" tIns="14630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맑은 고딕"/>
              </a:rPr>
              <a:t>우리 task는 atomic인가 composite인가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B8CEE0"/>
                </a:solidFill>
                <a:latin typeface="맑은 고딕"/>
              </a:rPr>
              <a:t>— composite다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44168"/>
            <a:ext cx="110578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62E"/>
                </a:solidFill>
                <a:latin typeface="맑은 고딕"/>
              </a:rPr>
              <a:t>“Receive the package from the conveyor, </a:t>
            </a:r>
            <a:r>
              <a:rPr sz="1500" b="1">
                <a:solidFill>
                  <a:srgbClr val="B4760A"/>
                </a:solidFill>
                <a:latin typeface="맑은 고딕"/>
              </a:rPr>
              <a:t>check the shipping label</a:t>
            </a:r>
            <a:r>
              <a:rPr sz="1500" b="0">
                <a:solidFill>
                  <a:srgbClr val="20262E"/>
                </a:solidFill>
                <a:latin typeface="맑은 고딕"/>
              </a:rPr>
              <a:t>, </a:t>
            </a:r>
            <a:r>
              <a:rPr sz="1500" b="1">
                <a:solidFill>
                  <a:srgbClr val="B43A2E"/>
                </a:solidFill>
                <a:latin typeface="맑은 고딕"/>
              </a:rPr>
              <a:t>flip the box face up if necessary</a:t>
            </a:r>
            <a:r>
              <a:rPr sz="1500" b="0">
                <a:solidFill>
                  <a:srgbClr val="20262E"/>
                </a:solidFill>
                <a:latin typeface="맑은 고딕"/>
              </a:rPr>
              <a:t>, and forward it to the next station.”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36E"/>
                </a:solidFill>
                <a:latin typeface="맑은 고딕"/>
              </a:rPr>
              <a:t>→ 4단계 + 조건 분기. 논문 기준 composite task다.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2606040"/>
          <a:ext cx="55778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97280"/>
                <a:gridCol w="1188720"/>
                <a:gridCol w="118872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RoboCasa365 · Table 1b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Atomic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Composite-S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Composite-U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RLDX-1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E7D32"/>
                          </a:solidFill>
                          <a:latin typeface="맑은 고딕"/>
                        </a:rPr>
                        <a:t>67.3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B4760A"/>
                          </a:solidFill>
                          <a:latin typeface="맑은 고딕"/>
                        </a:rPr>
                        <a:t>19.0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B43A2E"/>
                          </a:solidFill>
                          <a:latin typeface="맑은 고딕"/>
                        </a:rPr>
                        <a:t>5.6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GR00T N1.6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61.1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12.6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2.6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π₀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34.6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6.1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1.1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64808" y="2606040"/>
            <a:ext cx="5138928" cy="173736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9050">
            <a:solidFill>
              <a:srgbClr val="B47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64808" y="2606040"/>
            <a:ext cx="64008" cy="1737360"/>
          </a:xfrm>
          <a:prstGeom prst="rect">
            <a:avLst/>
          </a:prstGeom>
          <a:solidFill>
            <a:srgbClr val="B47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5976" y="2697480"/>
            <a:ext cx="477316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4760A"/>
                </a:solidFill>
                <a:latin typeface="맑은 고딕"/>
              </a:rPr>
              <a:t>왜 위험한가 — 세 가지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① 오차 누적: 단계별 0.9여도 4단계면 0.66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② 중간 상태 기억: “라벨을 이미 봤는가”가 현재 프레임에 없다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    (논문은 memory module로 푸는데 우리는 못 쓴다)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③ 같은 관측에 정답이 여러 개 → 평균 내면 둘 다 아닌 행동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526280"/>
            <a:ext cx="11057839" cy="16002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4526280"/>
            <a:ext cx="64008" cy="1600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4617720"/>
            <a:ext cx="1069207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E7D32"/>
                </a:solidFill>
                <a:latin typeface="맑은 고딕"/>
              </a:rPr>
              <a:t>그런데 ③은 우리에게 완화된다 — 분기 신호가 화면에 있다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ep5: 라벨이 앞쪽 수직면    ep30: 라벨 안 보임(16.0초까지) → 18.0초에 나타남    ep60: 이미 윗면 → 뒤집기 불필요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흰 송장 라벨은 갈색 상자 위의 큰 고대비 사각형이라 376×672 → 224×384로 줄여도 뚜렷하게 남는다.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→ 관측이 서로 다르므로 정책이 원리적으로 분기를 학습할 수 있다. “입력에 정보가 없어서 못 배우는” 상황은 아니다.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남는 위험은 오차 누적과 진행상태 기억이지 관측 부족이 아니다.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36E"/>
                </a:solidFill>
                <a:latin typeface="맑은 고딕"/>
              </a:rPr>
              <a:t>task 성격</a:t>
            </a:r>
            <a:r>
              <a:rPr sz="1000" b="0">
                <a:solidFill>
                  <a:srgbClr val="5A636E"/>
                </a:solidFill>
                <a:latin typeface="맑은 고딕"/>
              </a:rPr>
              <a:t>        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66928" tIns="14630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맑은 고딕"/>
              </a:rPr>
              <a:t>subtask로 나눌 것인가 — 이번엔 아니다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B8CEE0"/>
                </a:solidFill>
                <a:latin typeface="맑은 고딕"/>
              </a:rPr>
              <a:t>선택지 A / B / 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389888"/>
          <a:ext cx="11057836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417"/>
                <a:gridCol w="3503473"/>
                <a:gridCol w="1532769"/>
                <a:gridCol w="3284506"/>
                <a:gridCol w="2189671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방식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태스크 성질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필요한 것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배포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E7D32"/>
                          </a:solidFill>
                          <a:latin typeface="맑은 고딕"/>
                        </a:rPr>
                        <a:t>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전체 문장 1개로 end-to-end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composite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E7D32"/>
                          </a:solidFill>
                          <a:latin typeface="맑은 고딕"/>
                        </a:rPr>
                        <a:t>없음 (지금 그대로)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지시문 1개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B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sub_task 조건화 단일 정책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composite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구간 라벨 + 런타임 플래너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매 시점 subtask 지정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20262E"/>
                          </a:solidFill>
                          <a:latin typeface="맑은 고딕"/>
                        </a:rPr>
                        <a:t>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구간별 정책 분리 + 오케스트레이터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atomic으로 분해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라벨 + 정책 N개 + 전환 로직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20262E"/>
                          </a:solidFill>
                          <a:latin typeface="맑은 고딕"/>
                        </a:rPr>
                        <a:t>시스템 재설계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66928" y="3246120"/>
            <a:ext cx="5577840" cy="173736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3246120"/>
            <a:ext cx="64008" cy="17373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333756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E7D32"/>
                </a:solidFill>
                <a:latin typeface="맑은 고딕"/>
              </a:rPr>
              <a:t>A를 고른 이유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① 추가 라벨링이 0이다 (B는 81개 영상을 사람이 훑어야 한다)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② 1차 결과 없이는 어디를 쪼개야 할지 모른다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③ B는 배포 계약을 바꾼다 — 실행 중 “지금 어느 subtask인가”를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    정해줄 상위 플래너가 필요해진다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④ 되돌리기 쉽다 — 나중에 해도 지금 학습이 낭비가 안 된다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19088" y="3246120"/>
            <a:ext cx="5184648" cy="173736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905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19088" y="3246120"/>
            <a:ext cx="64008" cy="17373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6" y="3337560"/>
            <a:ext cx="481888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3A5C"/>
                </a:solidFill>
                <a:latin typeface="맑은 고딕"/>
              </a:rPr>
              <a:t>B는 이미 지원된다 (필요해지면)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코드에 LANG_KEYS = ["task", "sub_task"]가 있다.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episodes.jsonl에 sub_tasks 구간을 넣고 config 한 줄만 바꾸면 된다.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라벨은 start−8 프레임부터 적용되고 겹치는 구간은 확률적으로 섞인다.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atomic으로 바뀌는 게 아니라 언어 신호만 잘게 쪼개지는 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166360"/>
            <a:ext cx="11057839" cy="9144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9050">
            <a:solidFill>
              <a:srgbClr val="B47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166360"/>
            <a:ext cx="64008" cy="914400"/>
          </a:xfrm>
          <a:prstGeom prst="rect">
            <a:avLst/>
          </a:prstGeom>
          <a:solidFill>
            <a:srgbClr val="B47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5257800"/>
            <a:ext cx="10692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4760A"/>
                </a:solidFill>
                <a:latin typeface="맑은 고딕"/>
              </a:rPr>
              <a:t>1차 실패를 볼 때 이것만 보면 된다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실패가 “전 구간 어설픔”인가, “특정 전환 지점에서 멈추거나 잘못된 분기를 타는가”.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후자면 그때 subtask를 도입한다. 그때도 전수 라벨링 말고 “초기 송장 위치(front/top/hidden/side)”부터 센다.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36E"/>
                </a:solidFill>
                <a:latin typeface="맑은 고딕"/>
              </a:rPr>
              <a:t>subtask</a:t>
            </a:r>
            <a:r>
              <a:rPr sz="1000" b="0">
                <a:solidFill>
                  <a:srgbClr val="5A636E"/>
                </a:solidFill>
                <a:latin typeface="맑은 고딕"/>
              </a:rPr>
              <a:t>        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66928" tIns="14630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맑은 고딕"/>
              </a:rPr>
              <a:t>이번에 거는 학습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B8CEE0"/>
                </a:solidFill>
                <a:latin typeface="맑은 고딕"/>
              </a:rPr>
              <a:t>run_scripts/train/examples/finetune_rldx1_ffw_sh5_0826.sh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389888"/>
          <a:ext cx="7863840" cy="3470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3291840"/>
              </a:tblGrid>
              <a:tr h="3154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값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근거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base model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RLWRLD/RLDX-1-PT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1단계 산출물, 새 임바디먼트의 출발점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data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dataset/rlwrld_demo_0826_train (72 ep)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held-out 9 ep 제외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modality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ffw_sh5_rev1_config_used26_h40.py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action 26차원, chunk 40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batch / steps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128 × 30,000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논문 ALLEX·FR3 실로봇 레시피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lr / schedule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1e-4 / cosine + warmup 5%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논문 post-training 전부 동일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state dropout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0.3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OpenArm·FR3 값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동결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vision encoder + LLM (top-4 제외)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Table 6 — 완전 동결은 −26점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image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--image-max-area 98304 (224×384, 84 token)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가로 화각 확보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모듈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motion / memory / physics 전부 OFF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PT에 텐서가 없음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저장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10,000 step마다 · limit 5 (183 GB)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삭제 없이 10K/20K/30K 보존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705088" y="1344168"/>
            <a:ext cx="3474720" cy="210312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905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05088" y="1344168"/>
            <a:ext cx="64008" cy="2103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06256" y="1435608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3A5C"/>
                </a:solidFill>
                <a:latin typeface="맑은 고딕"/>
              </a:rPr>
              <a:t>예상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30K step에 6~8시간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GPU당 55 GiB / 183 GB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체크포인트 1개 = 61 GB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저장 1회당 약 40초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05088" y="365760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05088" y="3657600"/>
            <a:ext cx="64008" cy="2286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06256" y="374904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E7D32"/>
                </a:solidFill>
                <a:latin typeface="맑은 고딕"/>
              </a:rPr>
              <a:t>학습 후 바로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62E"/>
                </a:solidFill>
                <a:latin typeface="맑은 고딕"/>
              </a:rPr>
              <a:t>10K / 20K / 30K 각각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62E"/>
                </a:solidFill>
                <a:latin typeface="맑은 고딕"/>
              </a:rPr>
              <a:t>held-out 9 에피소드로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62E"/>
                </a:solidFill>
                <a:latin typeface="맑은 고딕"/>
              </a:rPr>
              <a:t>open_loop_eval MSE 기록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62E"/>
                </a:solidFill>
                <a:latin typeface="맑은 고딕"/>
              </a:rPr>
              <a:t>→ 최저점을 배포 후보로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62E"/>
                </a:solidFill>
                <a:latin typeface="맑은 고딕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62E"/>
                </a:solidFill>
                <a:latin typeface="맑은 고딕"/>
              </a:rPr>
              <a:t>--traj-ids 0..8 (재번호됨)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62E"/>
                </a:solidFill>
                <a:latin typeface="맑은 고딕"/>
              </a:rPr>
              <a:t>--action-horizon 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36E"/>
                </a:solidFill>
                <a:latin typeface="맑은 고딕"/>
              </a:rPr>
              <a:t>이번 학습</a:t>
            </a:r>
            <a:r>
              <a:rPr sz="1000" b="0">
                <a:solidFill>
                  <a:srgbClr val="5A636E"/>
                </a:solidFill>
                <a:latin typeface="맑은 고딕"/>
              </a:rPr>
              <a:t>        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66928" tIns="14630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맑은 고딕"/>
              </a:rPr>
              <a:t>학습 직전 점검에서 잡은 것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B8CEE0"/>
                </a:solidFill>
                <a:latin typeface="맑은 고딕"/>
              </a:rPr>
              <a:t>레포가 문서보다 조용히 다르게 동작하는 지점들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389888"/>
          <a:ext cx="11057837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8203"/>
                <a:gridCol w="6396200"/>
                <a:gridCol w="2493434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발견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무엇이 문제였나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조치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B43A2E"/>
                          </a:solidFill>
                          <a:latin typeface="맑은 고딕"/>
                        </a:rPr>
                        <a:t>save-total-limit 조합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2500 저장 × limit 6 → 잔존이 17.5K~30K. 최적 예상 구간(10K~20K)이 전부 삭제됨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10000 / 5로 변경 (삭제 없음)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B43A2E"/>
                          </a:solidFill>
                          <a:latin typeface="맑은 고딕"/>
                        </a:rPr>
                        <a:t>정규화 통계 누수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split 시 stats.json을 복사해 학습 통계가 held-out 9개를 포함한 81 ep로 fit돼 있었음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72 ep로 재생성 (30/57 차원 변경)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B4760A"/>
                          </a:solidFill>
                          <a:latin typeface="맑은 고딕"/>
                        </a:rPr>
                        <a:t>오해를 부르는 로그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generate_stats는 “Generating stats…”를 찍은 뒤 유효성 검사로 조기 반환한다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로그는 계산의 증거가 아님을 문서화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B4760A"/>
                          </a:solidFill>
                          <a:latin typeface="맑은 고딕"/>
                        </a:rPr>
                        <a:t>execution_horizon 플래그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run_rldx_server의 --execution-horizon은 ReplayPolicy 전용. 실제 정책엔 안 먹는다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실행 개수는 클라이언트 결정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B4760A"/>
                          </a:solidFill>
                          <a:latin typeface="맑은 고딕"/>
                        </a:rPr>
                        <a:t>episode_sampling_rate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이름과 달리 데이터를 버리지 않는다 — 에피소드를 10개 서브시퀀스로 쪼개 shard에 분산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기본값 유지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66928" y="4709160"/>
            <a:ext cx="5577840" cy="132588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4709160"/>
            <a:ext cx="64008" cy="13258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800600"/>
            <a:ext cx="5212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E7D32"/>
                </a:solidFill>
                <a:latin typeface="맑은 고딕"/>
              </a:rPr>
              <a:t>검증 완료된 것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62E"/>
                </a:solidFill>
                <a:latin typeface="맑은 고딕"/>
              </a:rPr>
              <a:t>중간 저장 · 회전 (20 저장 → 40·45 남기고 20 삭제)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62E"/>
                </a:solidFill>
                <a:latin typeface="맑은 고딕"/>
              </a:rPr>
              <a:t>open_loop_eval 26차원 관통 — gt(64,26) / pred(64,26)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62E"/>
                </a:solidFill>
                <a:latin typeface="맑은 고딕"/>
              </a:rPr>
              <a:t>체크포인트 자립성 (modality config·통계를 자체 보유)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62E"/>
                </a:solidFill>
                <a:latin typeface="맑은 고딕"/>
              </a:rPr>
              <a:t>학습 파라미터 2,376.0M = 논문 Table 6과 일치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19088" y="4709160"/>
            <a:ext cx="5184648" cy="132588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9050">
            <a:solidFill>
              <a:srgbClr val="B47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19088" y="4709160"/>
            <a:ext cx="64008" cy="1325880"/>
          </a:xfrm>
          <a:prstGeom prst="rect">
            <a:avLst/>
          </a:prstGeom>
          <a:solidFill>
            <a:srgbClr val="B47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6" y="4800600"/>
            <a:ext cx="481888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4760A"/>
                </a:solidFill>
                <a:latin typeface="맑은 고딕"/>
              </a:rPr>
              <a:t>아직 확인 못 한 것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62E"/>
                </a:solidFill>
                <a:latin typeface="맑은 고딕"/>
              </a:rPr>
              <a:t>30K 완주 (최장 45 step까지만 돌려봄)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62E"/>
                </a:solidFill>
                <a:latin typeface="맑은 고딕"/>
              </a:rPr>
              <a:t>중단 후 resume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62E"/>
                </a:solidFill>
                <a:latin typeface="맑은 고딕"/>
              </a:rPr>
              <a:t>실로봇 서빙 — 26차원 체크포인트로 서버를 띄워본 적 없음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62E"/>
                </a:solidFill>
                <a:latin typeface="맑은 고딕"/>
              </a:rPr>
              <a:t>chunk 40의 장기 거동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36E"/>
                </a:solidFill>
                <a:latin typeface="맑은 고딕"/>
              </a:rPr>
              <a:t>pre-flight</a:t>
            </a:r>
            <a:r>
              <a:rPr sz="1000" b="0">
                <a:solidFill>
                  <a:srgbClr val="5A636E"/>
                </a:solidFill>
                <a:latin typeface="맑은 고딕"/>
              </a:rPr>
              <a:t>        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66928" tIns="14630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맑은 고딕"/>
              </a:rPr>
              <a:t>To-do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B8CEE0"/>
                </a:solidFill>
                <a:latin typeface="맑은 고딕"/>
              </a:rPr>
              <a:t>지금 / 학습 후 / 다음 데이터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389888"/>
          <a:ext cx="11057837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4562"/>
                <a:gridCol w="4986868"/>
                <a:gridCol w="4336407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시점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할 일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왜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0262E"/>
                          </a:solidFill>
                          <a:latin typeface="맑은 고딕"/>
                        </a:rPr>
                        <a:t>학습 도는 동안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배포 클라이언트의 26 → 57 관절 매핑 갱신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서버 출력 키가 바뀐다. 유일하게 한 번도 안 띄워본 경로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로봇팀 확인: tactile 센서 1~3번이 왜 무응답인가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배선 문제면 다음 수집 전에 고쳐야 한다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데이터팀 확인: 초기 송장 위치 분포 (front/top/hidden/side)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분기 균형을 모르면 소수 분기가 학습되지 않는다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0262E"/>
                          </a:solidFill>
                          <a:latin typeface="맑은 고딕"/>
                        </a:rPr>
                        <a:t>학습 직후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10K / 20K / 30K를 held-out으로 평가 → 최저 MSE 선택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validation이 없어 train loss만으로는 과적합을 못 본다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실기 롤아웃으로 실패 모드 관찰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“전 구간 어설픔”인가 “전환 지점에서 멈춤”인가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배포 시 40 중 20만 실행 (2.0초), 여유되면 RTC guided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16개 전부 = 4초 open-loop는 컨베이어에서 길다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0262E"/>
                          </a:solidFill>
                          <a:latin typeface="맑은 고딕"/>
                        </a:rPr>
                        <a:t>다음 데이터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부족한 분기를 골라 집중 수집 (논문 §4.3 adaptive collection)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무작정 늘리는 것보다 효율이 높다고 보고됨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필요해지면 subtask 도입 (B) — 코드는 이미 지원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1차 실패 모드가 “전환 지점”으로 나올 때만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66928" y="5120640"/>
            <a:ext cx="11057839" cy="105156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9050">
            <a:solidFill>
              <a:srgbClr val="1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5120640"/>
            <a:ext cx="64008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5212080"/>
            <a:ext cx="106920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3A5C"/>
                </a:solidFill>
                <a:latin typeface="맑은 고딕"/>
              </a:rPr>
              <a:t>목표치를 굳이 잡자면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분기당 40~60개, 총 120~160 에피소드가 논문 레시피와 맞는 규모다. 지금 81개는 “주 동작은 학습되지만 조건 분기는 부족할 수 있다”는 위치.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정밀 접촉 작업을 하게 되면 그때는 10 fps도 재고 대상 (1스텝 = 100 ms).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36E"/>
                </a:solidFill>
                <a:latin typeface="맑은 고딕"/>
              </a:rPr>
              <a:t>to-do</a:t>
            </a:r>
            <a:r>
              <a:rPr sz="1000" b="0">
                <a:solidFill>
                  <a:srgbClr val="5A636E"/>
                </a:solidFill>
                <a:latin typeface="맑은 고딕"/>
              </a:rPr>
              <a:t>        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66928" tIns="146304"/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맑은 고딕"/>
              </a:rPr>
              <a:t>열린 질문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B8CEE0"/>
                </a:solidFill>
                <a:latin typeface="맑은 고딕"/>
              </a:rPr>
              <a:t>결정을 바꿀 수 있는 것들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389888"/>
          <a:ext cx="11057837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64"/>
                <a:gridCol w="4986868"/>
                <a:gridCol w="3252305"/>
              </a:tblGrid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질문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지금 아는 것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모르면 생기는 일</a:t>
                      </a:r>
                    </a:p>
                  </a:txBody>
                  <a:tcPr marL="73152" marR="73152" marT="18288" marB="18288" anchor="ctr">
                    <a:solidFill>
                      <a:srgbClr val="1B3A5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tactile 센서 1~3번은 왜 무응답인가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33,018 프레임 내내 완전 0. 명령이 가는 손가락도 4·5번뿐이라 일관됨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배선 문제라면 다음 수집분도 똑같이 못 쓴다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손가락 1~13·17은 왜 제어되지 않나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2지 운용으로 보이지만 의도인지 토픽 누락인지 불명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5지로 바꾸면 26차원 체크포인트를 다시 학습해야 한다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초기 송장 위치의 분포는?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신호가 화면에 있다는 건 확인. 분포는 사람이 라벨링해야 한다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소수 분기가 20% 미만이면 그 분기는 학습되지 않는다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세션마다 시연이 길어지는 이유는? (320→497)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분기가 아니라 세션 효과로 보임 (길이·파지 횟수 상관 0.01)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분포 이동이면 평가 설계에 반영해야 한다</a:t>
                      </a:r>
                    </a:p>
                  </a:txBody>
                  <a:tcPr marL="73152" marR="73152" marT="18288" marB="18288" anchor="ctr">
                    <a:solidFill>
                      <a:srgbClr val="F2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chunk 40이 16보다 나은가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위치 인코딩은 해석적이라 잘 정의됨. 학습 때 본 적 없는 길이일 뿐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0262E"/>
                          </a:solidFill>
                          <a:latin typeface="맑은 고딕"/>
                        </a:rPr>
                        <a:t>실제 성능 차이는 돌려봐야 안다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66928" y="5029200"/>
            <a:ext cx="11057839" cy="109728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9050">
            <a:solidFill>
              <a:srgbClr val="5A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5029200"/>
            <a:ext cx="64008" cy="1097280"/>
          </a:xfrm>
          <a:prstGeom prst="rect">
            <a:avLst/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5120640"/>
            <a:ext cx="10692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A636E"/>
                </a:solidFill>
                <a:latin typeface="맑은 고딕"/>
              </a:rPr>
              <a:t>상세 근거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모든 수치는 RLDX-1-FFW-SH5.md에 재현 명령과 함께 있다. 논문 인용에는 절(section)·표 번호를 붙였다.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0262E"/>
                </a:solidFill>
                <a:latin typeface="맑은 고딕"/>
              </a:rPr>
              <a:t>프레임 시트: outputs/frames/  ·  평가 플롯: outputs/eval/  ·  데이터 도구: run_scripts/data/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36E"/>
                </a:solidFill>
                <a:latin typeface="맑은 고딕"/>
              </a:rPr>
              <a:t>열린 질문</a:t>
            </a:r>
            <a:r>
              <a:rPr sz="1000" b="0">
                <a:solidFill>
                  <a:srgbClr val="5A636E"/>
                </a:solidFill>
                <a:latin typeface="맑은 고딕"/>
              </a:rPr>
              <a:t>         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3A5F"/>
                </a:solidFill>
              </a:rPr>
              <a:t>업데이트 — 26.09.03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이 뒤의 슬라이드는 26.08.27~09.03 실험 결과를 요약한다:</a:t>
            </a:r>
          </a:p>
          <a:p>
            <a:r>
              <a:rPr sz="1600" b="0"/>
              <a:t>① 1차 학습 결과와 checkpoint 선택  ② GR00T N1.7 비교(액션 표현 가설)  ③ subtask 언어 조건화 + 언어 민감도 프로브</a:t>
            </a:r>
          </a:p>
          <a:p>
            <a:r>
              <a:rPr sz="1200" b="0">
                <a:solidFill>
                  <a:srgbClr val="666666"/>
                </a:solidFill>
              </a:rPr>
              <a:t>상세 수치·플롯: eval_ffw_sh5_0826_holdout/ 트리, 비교 덱 RLDX1_vs_GR00T_N17_ffw_sh5_0826.pptx, 재현 문서 SUBTASK-TRAINING.md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① 1차 학습 결과 — checkpoint-10000 채택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666"/>
                </a:solidFill>
              </a:rPr>
              <a:t>batch 128 × 30K 완주, held-out 9 ep 전체 궤적 채점 (horizon 40)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760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</a:rPr>
              <a:t>결과</a:t>
            </a:r>
          </a:p>
          <a:p>
            <a:r>
              <a:rPr sz="1300" b="0"/>
              <a:t>• 최적: checkpoint-10000 — held-out MSE 0.0239 / MAE 0.0966</a:t>
            </a:r>
          </a:p>
          <a:p>
            <a:r>
              <a:rPr sz="1300" b="0"/>
              <a:t>• 20K·30K는 10K에 9/9 에피소드 전패 — 순수 과적합 (train loss는 4배 개선)</a:t>
            </a:r>
          </a:p>
          <a:p>
            <a:r>
              <a:rPr sz="1300" b="0"/>
              <a:t>• 81 에피소드에서는 ~1.3M 샘플이면 배울 것을 다 배운다 — 다음 레버는 스텝·용량이 아니라 데이터(§6.3 순서)</a:t>
            </a:r>
          </a:p>
          <a:p>
            <a:r>
              <a:rPr sz="800" b="0"/>
              <a:t/>
            </a:r>
          </a:p>
          <a:p>
            <a:r>
              <a:rPr sz="1500" b="1">
                <a:solidFill>
                  <a:srgbClr val="1F3A5F"/>
                </a:solidFill>
              </a:rPr>
              <a:t>평가 방법 교훈</a:t>
            </a:r>
          </a:p>
          <a:p>
            <a:r>
              <a:rPr sz="1300" b="0"/>
              <a:t>• 체크포인트 비교는 평균이 아니라 에피소드별 짝비교로 (같은 ckpt도 실행 간 ±15%)</a:t>
            </a:r>
          </a:p>
          <a:p>
            <a:r>
              <a:rPr sz="1300" b="0"/>
              <a:t>• 최초 채점이 --steps 128(앞 12.8초)로 되어 있던 것을 발견 — 전체 궤적 재채점으로 통일 (평균·결론은 유지: 0.0238→0.0239)</a:t>
            </a:r>
          </a:p>
        </p:txBody>
      </p:sp>
      <p:pic>
        <p:nvPicPr>
          <p:cNvPr id="5" name="Picture 4" descr="train_loss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48640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② GR00T N1.7 비교 — 격차의 정체는 액션 표현이었다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666"/>
                </a:solidFill>
              </a:rPr>
              <a:t>동일 데이터·분할·26차원·chunk 40, 4×B200</a:t>
            </a:r>
          </a:p>
        </p:txBody>
      </p:sp>
      <p:pic>
        <p:nvPicPr>
          <p:cNvPr id="4" name="Picture 3" descr="ckpt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669280" cy="30236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37160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</a:rPr>
              <a:t>경과</a:t>
            </a:r>
          </a:p>
          <a:p>
            <a:r>
              <a:rPr sz="1300" b="0"/>
              <a:t>• GR00T-N1.7-3B ABSOLUTE로 학습 → RLDX-1에 9/9 열세 (+24%, 0.0297 vs 0.0239)</a:t>
            </a:r>
          </a:p>
          <a:p>
            <a:r>
              <a:rPr sz="1300" b="0"/>
              <a:t>• 팔만 RELATIVE(a−s_t)로 재파라미터화한 relarm 변형 → 격차 소멸: 0.0236, RLDX와 통계적 동률</a:t>
            </a:r>
          </a:p>
          <a:p>
            <a:r>
              <a:rPr sz="800" b="0"/>
              <a:t/>
            </a:r>
          </a:p>
          <a:p>
            <a:r>
              <a:rPr sz="1500" b="1">
                <a:solidFill>
                  <a:srgbClr val="1F3A5F"/>
                </a:solidFill>
              </a:rPr>
              <a:t>해석</a:t>
            </a:r>
          </a:p>
          <a:p>
            <a:r>
              <a:rPr sz="1300" b="0"/>
              <a:t>• N1.7 사전학습 코퍼스가 delta/relative 지배적 — 동결 DiT 트렁크에는 0-중심 타겟이 in-distribution</a:t>
            </a:r>
          </a:p>
          <a:p>
            <a:r>
              <a:rPr sz="1300" b="0"/>
              <a:t>• 용량(8B vs 3B)이 아니라 표현 정합이 지배 변수. relarm은 과적합 곡선도 평평(10k~50k 유지)</a:t>
            </a:r>
          </a:p>
          <a:p>
            <a:r>
              <a:rPr sz="1300" b="0"/>
              <a:t>• RLDX는 ABSOLUTE 유지가 맞음(A.2 결정 재확인)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③ subtask 재방문 — '이번엔 아니다'를 실험으로 확인했다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666"/>
                </a:solidFill>
              </a:rPr>
              <a:t>사람 라벨 3문장(bring/flip/push)을 프레임 단위 조건으로, train 코드 0줄 변경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760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</a:rPr>
              <a:t>한 것</a:t>
            </a:r>
          </a:p>
          <a:p>
            <a:r>
              <a:rPr sz="1200" b="0"/>
              <a:t>• 81 ep 전수 구간 라벨 → parquet task_index에 프레임 단위 스탬핑(데이터 변경만으로 조건화 전환)</a:t>
            </a:r>
          </a:p>
          <a:p>
            <a:r>
              <a:rPr sz="1200" b="0"/>
              <a:t>• 3개 run 전부 재학습: RLDX(ABS)·GR00T(ABS)·GR00T(relarm), 베이스라인과 동일 하이퍼파라미터</a:t>
            </a:r>
          </a:p>
          <a:p>
            <a:r>
              <a:rPr sz="600" b="0"/>
              <a:t/>
            </a:r>
          </a:p>
          <a:p>
            <a:r>
              <a:rPr sz="1500" b="1">
                <a:solidFill>
                  <a:srgbClr val="1F3A5F"/>
                </a:solidFill>
              </a:rPr>
              <a:t>결과 (oracle 시퀀서 holdout, 각 최적 ckpt)</a:t>
            </a:r>
          </a:p>
          <a:p>
            <a:r>
              <a:rPr sz="1200" b="0"/>
              <a:t>• RLDX: 0.0239 → 0.0241 (동률)</a:t>
            </a:r>
          </a:p>
          <a:p>
            <a:r>
              <a:rPr sz="1200" b="0"/>
              <a:t>• GR00T ABS: 0.0297 → 0.0308 (동률)</a:t>
            </a:r>
          </a:p>
          <a:p>
            <a:r>
              <a:rPr sz="1200" b="0"/>
              <a:t>• GR00T relarm: 0.0236 → 0.0239 (동률)</a:t>
            </a:r>
          </a:p>
          <a:p>
            <a:r>
              <a:rPr sz="1200" b="0"/>
              <a:t>• open-loop MSE 기준 이득 없음 — GT 재생에서는 phase를 틀릴 기회가 없어 예상된 결과</a:t>
            </a:r>
          </a:p>
        </p:txBody>
      </p:sp>
      <p:pic>
        <p:nvPicPr>
          <p:cNvPr id="5" name="Picture 4" descr="subtask_pai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5577840" cy="163044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③-b 언어 민감도 프로브 — 판정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666"/>
                </a:solidFill>
              </a:rPr>
              <a:t>오답 라벨(순환 치환)·전체 문장을 넣었을 때 예측이 흔들리는가</a:t>
            </a:r>
          </a:p>
        </p:txBody>
      </p:sp>
      <p:pic>
        <p:nvPicPr>
          <p:cNvPr id="4" name="Picture 3" descr="lang_pr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217920" cy="29016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0" y="137160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</a:rPr>
              <a:t>결과</a:t>
            </a:r>
          </a:p>
          <a:p>
            <a:r>
              <a:rPr sz="1300" b="0"/>
              <a:t>• GR00T ABS: 오답 시 +11%, 9/9 악화 — 언어 사용함(약하게)</a:t>
            </a:r>
          </a:p>
          <a:p>
            <a:r>
              <a:rPr sz="1300" b="0"/>
              <a:t>• GR00T relarm: +7% — 더 약함</a:t>
            </a:r>
          </a:p>
          <a:p>
            <a:r>
              <a:rPr sz="1300" b="0"/>
              <a:t>• RLDX: ±0% — 언어 완전 무시</a:t>
            </a:r>
          </a:p>
          <a:p>
            <a:r>
              <a:rPr sz="800" b="0"/>
              <a:t/>
            </a:r>
          </a:p>
          <a:p>
            <a:r>
              <a:rPr sz="1500" b="1">
                <a:solidFill>
                  <a:srgbClr val="1F3A5F"/>
                </a:solidFill>
              </a:rPr>
              <a:t>원인과 결론</a:t>
            </a:r>
          </a:p>
          <a:p>
            <a:r>
              <a:rPr sz="1300" b="0"/>
              <a:t>• subtask 문장이 시각 상태와 완벽 상관 → 시각만으로 충분, 언어는 지름길로 우회됨 (RLDX는 4프레임 시각 문맥이라 특히)</a:t>
            </a:r>
          </a:p>
          <a:p>
            <a:r>
              <a:rPr sz="1300" b="0"/>
              <a:t>• 시퀀서로 정책을 제어하려면 '같은 장면·다른 명령' 데이터(교차 명령)로 상관을 깨야 함 — 그 전까지 배포는 whole-sentence로 충분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</a:rPr>
              <a:t>권고 (26.09.03 기준)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3A5F"/>
                </a:solidFill>
              </a:rPr>
              <a:t>채택 체크포인트</a:t>
            </a:r>
          </a:p>
          <a:p>
            <a:r>
              <a:rPr sz="1300" b="0"/>
              <a:t>• RLDX-1: rldx1_ft_ffw_sh5_0826/checkpoint-10000 (MSE 0.0239) · GR00T: relarm/checkpoint-50000 (0.0236) — open-loop 동률, 실기 성공률과 추론 비용(3B가 경량)으로 최종 선택</a:t>
            </a:r>
          </a:p>
          <a:p>
            <a:r>
              <a:rPr sz="800" b="0"/>
              <a:t/>
            </a:r>
          </a:p>
          <a:p>
            <a:r>
              <a:rPr sz="1600" b="1">
                <a:solidFill>
                  <a:srgbClr val="1F3A5F"/>
                </a:solidFill>
              </a:rPr>
              <a:t>다음 레버 (우선순위)</a:t>
            </a:r>
          </a:p>
          <a:p>
            <a:r>
              <a:rPr sz="1300" b="0"/>
              <a:t>① 실기 rollout — 두 후보 비교 (chunk 40 예측, 앞 20 실행 2.0 s 후 재질의)</a:t>
            </a:r>
          </a:p>
          <a:p>
            <a:r>
              <a:rPr sz="1300" b="0"/>
              <a:t>② 데이터 수집 — 초기 송장 위치 분포. 6개 run 전부 같은 에피소드(0/6/8)에서 막힘 = 데이터가 상한이라는 가장 강한 증거</a:t>
            </a:r>
          </a:p>
          <a:p>
            <a:r>
              <a:rPr sz="1300" b="0"/>
              <a:t>③ subtask 후속 — 교차 명령 데이터로 언어-시각 상관을 깬 뒤에만 재시도 가치</a:t>
            </a:r>
          </a:p>
          <a:p>
            <a:r>
              <a:rPr sz="800" b="0"/>
              <a:t/>
            </a:r>
          </a:p>
          <a:p>
            <a:r>
              <a:rPr sz="1600" b="1">
                <a:solidFill>
                  <a:srgbClr val="1F3A5F"/>
                </a:solidFill>
              </a:rPr>
              <a:t>산출물</a:t>
            </a:r>
          </a:p>
          <a:p>
            <a:r>
              <a:rPr sz="1200" b="0">
                <a:solidFill>
                  <a:srgbClr val="666666"/>
                </a:solidFill>
              </a:rPr>
              <a:t>HF: learner1119/{rldx1_ft_ffw_sh5_0826, gr00t_n17_ffw_sh5_0826_b200, ..._relarm} + _subtask 3종 (전부 public, 가중치만) · 평가: /NHNHOME/doyoung/eval_ffw_sh5_0826_holdout/ · 문서: SUBTASK-TRAINING.md, RLDX-1-FFW-SH5.md §17.5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